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4" r:id="rId10"/>
    <p:sldId id="264" r:id="rId11"/>
    <p:sldId id="265" r:id="rId12"/>
    <p:sldId id="266" r:id="rId13"/>
    <p:sldId id="267" r:id="rId14"/>
    <p:sldId id="268" r:id="rId15"/>
    <p:sldId id="269" r:id="rId16"/>
    <p:sldId id="273" r:id="rId17"/>
    <p:sldId id="272" r:id="rId18"/>
    <p:sldId id="271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937D044-3F45-424A-8B70-6DBA1AE621FF}" v="92" dt="2026-10-13T16:04:01.37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ravanti kondala" userId="a346c19f0a206091" providerId="LiveId" clId="{88B5224F-4A02-4A82-B972-6088FEC50949}"/>
    <pc:docChg chg="undo custSel addSld delSld modSld">
      <pc:chgData name="Sravanti kondala" userId="a346c19f0a206091" providerId="LiveId" clId="{88B5224F-4A02-4A82-B972-6088FEC50949}" dt="2026-10-14T05:23:42.534" v="830" actId="27636"/>
      <pc:docMkLst>
        <pc:docMk/>
      </pc:docMkLst>
      <pc:sldChg chg="modSp mod">
        <pc:chgData name="Sravanti kondala" userId="a346c19f0a206091" providerId="LiveId" clId="{88B5224F-4A02-4A82-B972-6088FEC50949}" dt="2026-10-14T05:23:42.534" v="830" actId="27636"/>
        <pc:sldMkLst>
          <pc:docMk/>
          <pc:sldMk cId="1097093981" sldId="256"/>
        </pc:sldMkLst>
        <pc:spChg chg="mod">
          <ac:chgData name="Sravanti kondala" userId="a346c19f0a206091" providerId="LiveId" clId="{88B5224F-4A02-4A82-B972-6088FEC50949}" dt="2026-10-13T12:26:36.042" v="88"/>
          <ac:spMkLst>
            <pc:docMk/>
            <pc:sldMk cId="1097093981" sldId="256"/>
            <ac:spMk id="2" creationId="{92A5A7E9-14CA-4968-987D-043202BA9DA5}"/>
          </ac:spMkLst>
        </pc:spChg>
        <pc:spChg chg="mod">
          <ac:chgData name="Sravanti kondala" userId="a346c19f0a206091" providerId="LiveId" clId="{88B5224F-4A02-4A82-B972-6088FEC50949}" dt="2026-10-14T05:23:42.534" v="830" actId="27636"/>
          <ac:spMkLst>
            <pc:docMk/>
            <pc:sldMk cId="1097093981" sldId="256"/>
            <ac:spMk id="3" creationId="{CBD90737-52F6-AEBC-6F1B-5177959F9378}"/>
          </ac:spMkLst>
        </pc:spChg>
      </pc:sldChg>
      <pc:sldChg chg="addSp delSp modSp mod">
        <pc:chgData name="Sravanti kondala" userId="a346c19f0a206091" providerId="LiveId" clId="{88B5224F-4A02-4A82-B972-6088FEC50949}" dt="2026-10-13T12:50:59.146" v="560" actId="255"/>
        <pc:sldMkLst>
          <pc:docMk/>
          <pc:sldMk cId="3531066285" sldId="257"/>
        </pc:sldMkLst>
        <pc:spChg chg="mod">
          <ac:chgData name="Sravanti kondala" userId="a346c19f0a206091" providerId="LiveId" clId="{88B5224F-4A02-4A82-B972-6088FEC50949}" dt="2026-10-13T12:50:59.146" v="560" actId="255"/>
          <ac:spMkLst>
            <pc:docMk/>
            <pc:sldMk cId="3531066285" sldId="257"/>
            <ac:spMk id="2" creationId="{5A4C9F90-1FC4-4CE4-7F32-58E138BF58AC}"/>
          </ac:spMkLst>
        </pc:spChg>
        <pc:spChg chg="mod">
          <ac:chgData name="Sravanti kondala" userId="a346c19f0a206091" providerId="LiveId" clId="{88B5224F-4A02-4A82-B972-6088FEC50949}" dt="2026-10-13T12:47:45.367" v="524" actId="14100"/>
          <ac:spMkLst>
            <pc:docMk/>
            <pc:sldMk cId="3531066285" sldId="257"/>
            <ac:spMk id="3" creationId="{E2BD37F1-EE87-4485-8412-EAFDFD5C9C4C}"/>
          </ac:spMkLst>
        </pc:spChg>
        <pc:spChg chg="add del mod">
          <ac:chgData name="Sravanti kondala" userId="a346c19f0a206091" providerId="LiveId" clId="{88B5224F-4A02-4A82-B972-6088FEC50949}" dt="2026-10-13T12:29:05.618" v="114"/>
          <ac:spMkLst>
            <pc:docMk/>
            <pc:sldMk cId="3531066285" sldId="257"/>
            <ac:spMk id="5" creationId="{516E68AC-0A94-DCB9-1F54-862435A75D10}"/>
          </ac:spMkLst>
        </pc:spChg>
        <pc:picChg chg="mod">
          <ac:chgData name="Sravanti kondala" userId="a346c19f0a206091" providerId="LiveId" clId="{88B5224F-4A02-4A82-B972-6088FEC50949}" dt="2026-10-13T12:47:53.282" v="528" actId="1076"/>
          <ac:picMkLst>
            <pc:docMk/>
            <pc:sldMk cId="3531066285" sldId="257"/>
            <ac:picMk id="4" creationId="{8A9F29B3-742F-B865-DF40-5B8676C9349F}"/>
          </ac:picMkLst>
        </pc:picChg>
      </pc:sldChg>
      <pc:sldChg chg="modSp mod">
        <pc:chgData name="Sravanti kondala" userId="a346c19f0a206091" providerId="LiveId" clId="{88B5224F-4A02-4A82-B972-6088FEC50949}" dt="2026-10-13T12:50:47.086" v="559" actId="255"/>
        <pc:sldMkLst>
          <pc:docMk/>
          <pc:sldMk cId="3364188383" sldId="258"/>
        </pc:sldMkLst>
        <pc:spChg chg="mod">
          <ac:chgData name="Sravanti kondala" userId="a346c19f0a206091" providerId="LiveId" clId="{88B5224F-4A02-4A82-B972-6088FEC50949}" dt="2026-10-13T12:50:47.086" v="559" actId="255"/>
          <ac:spMkLst>
            <pc:docMk/>
            <pc:sldMk cId="3364188383" sldId="258"/>
            <ac:spMk id="2" creationId="{720EC1C4-85A9-8548-708C-456CE7AD8B0E}"/>
          </ac:spMkLst>
        </pc:spChg>
        <pc:spChg chg="mod">
          <ac:chgData name="Sravanti kondala" userId="a346c19f0a206091" providerId="LiveId" clId="{88B5224F-4A02-4A82-B972-6088FEC50949}" dt="2026-10-13T12:43:02.147" v="466" actId="27636"/>
          <ac:spMkLst>
            <pc:docMk/>
            <pc:sldMk cId="3364188383" sldId="258"/>
            <ac:spMk id="3" creationId="{A1C4E197-3BFE-9F2F-FB97-25CB6573BD25}"/>
          </ac:spMkLst>
        </pc:spChg>
      </pc:sldChg>
      <pc:sldChg chg="addSp delSp modSp mod">
        <pc:chgData name="Sravanti kondala" userId="a346c19f0a206091" providerId="LiveId" clId="{88B5224F-4A02-4A82-B972-6088FEC50949}" dt="2026-10-13T16:24:00.623" v="791" actId="1076"/>
        <pc:sldMkLst>
          <pc:docMk/>
          <pc:sldMk cId="3570293493" sldId="259"/>
        </pc:sldMkLst>
        <pc:spChg chg="mod">
          <ac:chgData name="Sravanti kondala" userId="a346c19f0a206091" providerId="LiveId" clId="{88B5224F-4A02-4A82-B972-6088FEC50949}" dt="2026-10-13T12:51:15.127" v="561" actId="255"/>
          <ac:spMkLst>
            <pc:docMk/>
            <pc:sldMk cId="3570293493" sldId="259"/>
            <ac:spMk id="2" creationId="{0C4C6941-227D-C124-C98E-866E5B16FF86}"/>
          </ac:spMkLst>
        </pc:spChg>
        <pc:spChg chg="mod">
          <ac:chgData name="Sravanti kondala" userId="a346c19f0a206091" providerId="LiveId" clId="{88B5224F-4A02-4A82-B972-6088FEC50949}" dt="2026-10-13T12:49:55.722" v="555" actId="27636"/>
          <ac:spMkLst>
            <pc:docMk/>
            <pc:sldMk cId="3570293493" sldId="259"/>
            <ac:spMk id="3" creationId="{7CD0AAF8-83B0-71B1-0E40-27442E354EC5}"/>
          </ac:spMkLst>
        </pc:spChg>
        <pc:picChg chg="mod">
          <ac:chgData name="Sravanti kondala" userId="a346c19f0a206091" providerId="LiveId" clId="{88B5224F-4A02-4A82-B972-6088FEC50949}" dt="2026-10-13T12:49:15.876" v="548" actId="1076"/>
          <ac:picMkLst>
            <pc:docMk/>
            <pc:sldMk cId="3570293493" sldId="259"/>
            <ac:picMk id="4" creationId="{00D66B76-D917-6088-A6B6-89CC34498822}"/>
          </ac:picMkLst>
        </pc:picChg>
        <pc:picChg chg="add mod">
          <ac:chgData name="Sravanti kondala" userId="a346c19f0a206091" providerId="LiveId" clId="{88B5224F-4A02-4A82-B972-6088FEC50949}" dt="2026-10-13T16:23:57.166" v="789" actId="1076"/>
          <ac:picMkLst>
            <pc:docMk/>
            <pc:sldMk cId="3570293493" sldId="259"/>
            <ac:picMk id="5" creationId="{52A82713-E1FE-B1B6-1F0A-7F833DD8113F}"/>
          </ac:picMkLst>
        </pc:picChg>
        <pc:picChg chg="add del mod">
          <ac:chgData name="Sravanti kondala" userId="a346c19f0a206091" providerId="LiveId" clId="{88B5224F-4A02-4A82-B972-6088FEC50949}" dt="2026-10-13T03:04:18.100" v="12" actId="22"/>
          <ac:picMkLst>
            <pc:docMk/>
            <pc:sldMk cId="3570293493" sldId="259"/>
            <ac:picMk id="5" creationId="{EF3C0F62-6314-EA59-EF5B-C4835C7D193A}"/>
          </ac:picMkLst>
        </pc:picChg>
        <pc:picChg chg="add del mod">
          <ac:chgData name="Sravanti kondala" userId="a346c19f0a206091" providerId="LiveId" clId="{88B5224F-4A02-4A82-B972-6088FEC50949}" dt="2026-10-13T12:44:35.765" v="473" actId="21"/>
          <ac:picMkLst>
            <pc:docMk/>
            <pc:sldMk cId="3570293493" sldId="259"/>
            <ac:picMk id="7" creationId="{77E9D42E-2DE1-CB45-F1BC-83B455471DC5}"/>
          </ac:picMkLst>
        </pc:picChg>
        <pc:picChg chg="add mod">
          <ac:chgData name="Sravanti kondala" userId="a346c19f0a206091" providerId="LiveId" clId="{88B5224F-4A02-4A82-B972-6088FEC50949}" dt="2026-10-13T16:23:58.931" v="790" actId="1076"/>
          <ac:picMkLst>
            <pc:docMk/>
            <pc:sldMk cId="3570293493" sldId="259"/>
            <ac:picMk id="8" creationId="{3B16F2E5-591C-F8F9-6F98-C16AD3402F38}"/>
          </ac:picMkLst>
        </pc:picChg>
        <pc:picChg chg="add mod">
          <ac:chgData name="Sravanti kondala" userId="a346c19f0a206091" providerId="LiveId" clId="{88B5224F-4A02-4A82-B972-6088FEC50949}" dt="2026-10-13T16:24:00.623" v="791" actId="1076"/>
          <ac:picMkLst>
            <pc:docMk/>
            <pc:sldMk cId="3570293493" sldId="259"/>
            <ac:picMk id="10" creationId="{B0E8F7B4-4B37-8235-0B00-F3D1C58023D1}"/>
          </ac:picMkLst>
        </pc:picChg>
      </pc:sldChg>
      <pc:sldChg chg="modSp mod">
        <pc:chgData name="Sravanti kondala" userId="a346c19f0a206091" providerId="LiveId" clId="{88B5224F-4A02-4A82-B972-6088FEC50949}" dt="2026-10-13T12:52:02.909" v="569" actId="27636"/>
        <pc:sldMkLst>
          <pc:docMk/>
          <pc:sldMk cId="1025967619" sldId="260"/>
        </pc:sldMkLst>
        <pc:spChg chg="mod">
          <ac:chgData name="Sravanti kondala" userId="a346c19f0a206091" providerId="LiveId" clId="{88B5224F-4A02-4A82-B972-6088FEC50949}" dt="2026-10-13T12:50:33.699" v="558"/>
          <ac:spMkLst>
            <pc:docMk/>
            <pc:sldMk cId="1025967619" sldId="260"/>
            <ac:spMk id="2" creationId="{28AAD921-123D-D13D-A8B7-2496B43D59F8}"/>
          </ac:spMkLst>
        </pc:spChg>
        <pc:spChg chg="mod">
          <ac:chgData name="Sravanti kondala" userId="a346c19f0a206091" providerId="LiveId" clId="{88B5224F-4A02-4A82-B972-6088FEC50949}" dt="2026-10-13T12:52:02.909" v="569" actId="27636"/>
          <ac:spMkLst>
            <pc:docMk/>
            <pc:sldMk cId="1025967619" sldId="260"/>
            <ac:spMk id="3" creationId="{922BCB33-F854-69F1-F131-271D5F838C67}"/>
          </ac:spMkLst>
        </pc:spChg>
      </pc:sldChg>
      <pc:sldChg chg="addSp modSp mod">
        <pc:chgData name="Sravanti kondala" userId="a346c19f0a206091" providerId="LiveId" clId="{88B5224F-4A02-4A82-B972-6088FEC50949}" dt="2026-10-13T12:58:04.476" v="607" actId="5793"/>
        <pc:sldMkLst>
          <pc:docMk/>
          <pc:sldMk cId="944790041" sldId="261"/>
        </pc:sldMkLst>
        <pc:spChg chg="mod">
          <ac:chgData name="Sravanti kondala" userId="a346c19f0a206091" providerId="LiveId" clId="{88B5224F-4A02-4A82-B972-6088FEC50949}" dt="2026-10-13T12:53:25.435" v="579" actId="1076"/>
          <ac:spMkLst>
            <pc:docMk/>
            <pc:sldMk cId="944790041" sldId="261"/>
            <ac:spMk id="2" creationId="{06B6168D-AFCA-8CEF-8D39-BBCDCE8B90EA}"/>
          </ac:spMkLst>
        </pc:spChg>
        <pc:spChg chg="mod">
          <ac:chgData name="Sravanti kondala" userId="a346c19f0a206091" providerId="LiveId" clId="{88B5224F-4A02-4A82-B972-6088FEC50949}" dt="2026-10-13T12:58:04.476" v="607" actId="5793"/>
          <ac:spMkLst>
            <pc:docMk/>
            <pc:sldMk cId="944790041" sldId="261"/>
            <ac:spMk id="3" creationId="{7849C7E0-86E5-5DF1-89DF-48BE5D06C327}"/>
          </ac:spMkLst>
        </pc:spChg>
        <pc:picChg chg="add mod">
          <ac:chgData name="Sravanti kondala" userId="a346c19f0a206091" providerId="LiveId" clId="{88B5224F-4A02-4A82-B972-6088FEC50949}" dt="2026-10-13T12:54:16.150" v="586" actId="1076"/>
          <ac:picMkLst>
            <pc:docMk/>
            <pc:sldMk cId="944790041" sldId="261"/>
            <ac:picMk id="5" creationId="{5A4B4CF7-7DBD-CCE7-D86F-60414297A7DA}"/>
          </ac:picMkLst>
        </pc:picChg>
        <pc:picChg chg="add mod">
          <ac:chgData name="Sravanti kondala" userId="a346c19f0a206091" providerId="LiveId" clId="{88B5224F-4A02-4A82-B972-6088FEC50949}" dt="2026-10-13T12:54:11.456" v="584" actId="1076"/>
          <ac:picMkLst>
            <pc:docMk/>
            <pc:sldMk cId="944790041" sldId="261"/>
            <ac:picMk id="7" creationId="{48896A47-F39D-CAD1-AE71-925678742E8B}"/>
          </ac:picMkLst>
        </pc:picChg>
      </pc:sldChg>
      <pc:sldChg chg="modSp mod">
        <pc:chgData name="Sravanti kondala" userId="a346c19f0a206091" providerId="LiveId" clId="{88B5224F-4A02-4A82-B972-6088FEC50949}" dt="2026-10-13T13:38:22.606" v="765" actId="13926"/>
        <pc:sldMkLst>
          <pc:docMk/>
          <pc:sldMk cId="2799822677" sldId="262"/>
        </pc:sldMkLst>
        <pc:spChg chg="mod">
          <ac:chgData name="Sravanti kondala" userId="a346c19f0a206091" providerId="LiveId" clId="{88B5224F-4A02-4A82-B972-6088FEC50949}" dt="2026-10-13T12:55:05.384" v="593" actId="1076"/>
          <ac:spMkLst>
            <pc:docMk/>
            <pc:sldMk cId="2799822677" sldId="262"/>
            <ac:spMk id="2" creationId="{C4CE8CFB-6118-3940-260B-590BC7BB936A}"/>
          </ac:spMkLst>
        </pc:spChg>
        <pc:spChg chg="mod">
          <ac:chgData name="Sravanti kondala" userId="a346c19f0a206091" providerId="LiveId" clId="{88B5224F-4A02-4A82-B972-6088FEC50949}" dt="2026-10-13T13:38:22.606" v="765" actId="13926"/>
          <ac:spMkLst>
            <pc:docMk/>
            <pc:sldMk cId="2799822677" sldId="262"/>
            <ac:spMk id="3" creationId="{24AEF829-D57E-E4D1-DF36-AB53F49835FD}"/>
          </ac:spMkLst>
        </pc:spChg>
      </pc:sldChg>
      <pc:sldChg chg="modSp mod modClrScheme chgLayout">
        <pc:chgData name="Sravanti kondala" userId="a346c19f0a206091" providerId="LiveId" clId="{88B5224F-4A02-4A82-B972-6088FEC50949}" dt="2026-10-13T13:35:12.118" v="746" actId="255"/>
        <pc:sldMkLst>
          <pc:docMk/>
          <pc:sldMk cId="2291659319" sldId="263"/>
        </pc:sldMkLst>
        <pc:spChg chg="mod ord">
          <ac:chgData name="Sravanti kondala" userId="a346c19f0a206091" providerId="LiveId" clId="{88B5224F-4A02-4A82-B972-6088FEC50949}" dt="2026-10-13T13:35:12.118" v="746" actId="255"/>
          <ac:spMkLst>
            <pc:docMk/>
            <pc:sldMk cId="2291659319" sldId="263"/>
            <ac:spMk id="2" creationId="{60D8DB74-7D98-BCD3-15C6-79B5A19AE71C}"/>
          </ac:spMkLst>
        </pc:spChg>
        <pc:spChg chg="mod ord">
          <ac:chgData name="Sravanti kondala" userId="a346c19f0a206091" providerId="LiveId" clId="{88B5224F-4A02-4A82-B972-6088FEC50949}" dt="2026-10-13T13:34:56.759" v="742" actId="700"/>
          <ac:spMkLst>
            <pc:docMk/>
            <pc:sldMk cId="2291659319" sldId="263"/>
            <ac:spMk id="3" creationId="{85923F8E-D317-B87A-B9A0-614F51101F81}"/>
          </ac:spMkLst>
        </pc:spChg>
      </pc:sldChg>
      <pc:sldChg chg="modSp mod">
        <pc:chgData name="Sravanti kondala" userId="a346c19f0a206091" providerId="LiveId" clId="{88B5224F-4A02-4A82-B972-6088FEC50949}" dt="2026-10-13T13:00:53.120" v="619"/>
        <pc:sldMkLst>
          <pc:docMk/>
          <pc:sldMk cId="982189808" sldId="264"/>
        </pc:sldMkLst>
        <pc:spChg chg="mod">
          <ac:chgData name="Sravanti kondala" userId="a346c19f0a206091" providerId="LiveId" clId="{88B5224F-4A02-4A82-B972-6088FEC50949}" dt="2026-10-13T12:59:12.461" v="612" actId="1076"/>
          <ac:spMkLst>
            <pc:docMk/>
            <pc:sldMk cId="982189808" sldId="264"/>
            <ac:spMk id="2" creationId="{739C126C-FEBF-3039-8DC7-42CA5A7DDC83}"/>
          </ac:spMkLst>
        </pc:spChg>
        <pc:spChg chg="mod">
          <ac:chgData name="Sravanti kondala" userId="a346c19f0a206091" providerId="LiveId" clId="{88B5224F-4A02-4A82-B972-6088FEC50949}" dt="2026-10-13T13:00:53.120" v="619"/>
          <ac:spMkLst>
            <pc:docMk/>
            <pc:sldMk cId="982189808" sldId="264"/>
            <ac:spMk id="3" creationId="{06417CF1-F50B-7FDB-5410-0793381EB8DD}"/>
          </ac:spMkLst>
        </pc:spChg>
      </pc:sldChg>
      <pc:sldChg chg="modSp mod">
        <pc:chgData name="Sravanti kondala" userId="a346c19f0a206091" providerId="LiveId" clId="{88B5224F-4A02-4A82-B972-6088FEC50949}" dt="2026-10-13T13:02:29.792" v="626" actId="5793"/>
        <pc:sldMkLst>
          <pc:docMk/>
          <pc:sldMk cId="1403425278" sldId="265"/>
        </pc:sldMkLst>
        <pc:spChg chg="mod">
          <ac:chgData name="Sravanti kondala" userId="a346c19f0a206091" providerId="LiveId" clId="{88B5224F-4A02-4A82-B972-6088FEC50949}" dt="2026-10-13T13:02:19.042" v="623" actId="255"/>
          <ac:spMkLst>
            <pc:docMk/>
            <pc:sldMk cId="1403425278" sldId="265"/>
            <ac:spMk id="2" creationId="{560B6E50-175E-3DCE-B160-80E3E2713F97}"/>
          </ac:spMkLst>
        </pc:spChg>
        <pc:spChg chg="mod">
          <ac:chgData name="Sravanti kondala" userId="a346c19f0a206091" providerId="LiveId" clId="{88B5224F-4A02-4A82-B972-6088FEC50949}" dt="2026-10-13T13:02:29.792" v="626" actId="5793"/>
          <ac:spMkLst>
            <pc:docMk/>
            <pc:sldMk cId="1403425278" sldId="265"/>
            <ac:spMk id="3" creationId="{BD95FD36-6529-2CF1-8D15-60886FB22F0B}"/>
          </ac:spMkLst>
        </pc:spChg>
      </pc:sldChg>
      <pc:sldChg chg="modSp mod">
        <pc:chgData name="Sravanti kondala" userId="a346c19f0a206091" providerId="LiveId" clId="{88B5224F-4A02-4A82-B972-6088FEC50949}" dt="2026-10-13T13:03:20.268" v="633" actId="5793"/>
        <pc:sldMkLst>
          <pc:docMk/>
          <pc:sldMk cId="1115319831" sldId="266"/>
        </pc:sldMkLst>
        <pc:spChg chg="mod">
          <ac:chgData name="Sravanti kondala" userId="a346c19f0a206091" providerId="LiveId" clId="{88B5224F-4A02-4A82-B972-6088FEC50949}" dt="2026-10-13T13:03:02.535" v="630" actId="20577"/>
          <ac:spMkLst>
            <pc:docMk/>
            <pc:sldMk cId="1115319831" sldId="266"/>
            <ac:spMk id="2" creationId="{5EBCE5E2-C138-B0FA-6875-EA7403BA4A42}"/>
          </ac:spMkLst>
        </pc:spChg>
        <pc:spChg chg="mod">
          <ac:chgData name="Sravanti kondala" userId="a346c19f0a206091" providerId="LiveId" clId="{88B5224F-4A02-4A82-B972-6088FEC50949}" dt="2026-10-13T13:03:20.268" v="633" actId="5793"/>
          <ac:spMkLst>
            <pc:docMk/>
            <pc:sldMk cId="1115319831" sldId="266"/>
            <ac:spMk id="3" creationId="{4E642D60-FCB8-12A7-4194-6A4F76E17C61}"/>
          </ac:spMkLst>
        </pc:spChg>
      </pc:sldChg>
      <pc:sldChg chg="modSp mod">
        <pc:chgData name="Sravanti kondala" userId="a346c19f0a206091" providerId="LiveId" clId="{88B5224F-4A02-4A82-B972-6088FEC50949}" dt="2026-10-13T13:04:41.508" v="641" actId="5793"/>
        <pc:sldMkLst>
          <pc:docMk/>
          <pc:sldMk cId="3640561984" sldId="267"/>
        </pc:sldMkLst>
        <pc:spChg chg="mod">
          <ac:chgData name="Sravanti kondala" userId="a346c19f0a206091" providerId="LiveId" clId="{88B5224F-4A02-4A82-B972-6088FEC50949}" dt="2026-10-13T13:04:04.013" v="638" actId="20577"/>
          <ac:spMkLst>
            <pc:docMk/>
            <pc:sldMk cId="3640561984" sldId="267"/>
            <ac:spMk id="2" creationId="{A4E88ED0-8034-6DE0-43BA-18DEB45F93D1}"/>
          </ac:spMkLst>
        </pc:spChg>
        <pc:spChg chg="mod">
          <ac:chgData name="Sravanti kondala" userId="a346c19f0a206091" providerId="LiveId" clId="{88B5224F-4A02-4A82-B972-6088FEC50949}" dt="2026-10-13T13:04:41.508" v="641" actId="5793"/>
          <ac:spMkLst>
            <pc:docMk/>
            <pc:sldMk cId="3640561984" sldId="267"/>
            <ac:spMk id="3" creationId="{9B00C998-808A-7E21-2839-AC3BC6235172}"/>
          </ac:spMkLst>
        </pc:spChg>
      </pc:sldChg>
      <pc:sldChg chg="addSp modSp mod modClrScheme chgLayout">
        <pc:chgData name="Sravanti kondala" userId="a346c19f0a206091" providerId="LiveId" clId="{88B5224F-4A02-4A82-B972-6088FEC50949}" dt="2026-10-13T13:07:25.010" v="672" actId="1076"/>
        <pc:sldMkLst>
          <pc:docMk/>
          <pc:sldMk cId="398998703" sldId="268"/>
        </pc:sldMkLst>
        <pc:spChg chg="mod ord">
          <ac:chgData name="Sravanti kondala" userId="a346c19f0a206091" providerId="LiveId" clId="{88B5224F-4A02-4A82-B972-6088FEC50949}" dt="2026-10-13T13:05:15.539" v="648" actId="20577"/>
          <ac:spMkLst>
            <pc:docMk/>
            <pc:sldMk cId="398998703" sldId="268"/>
            <ac:spMk id="2" creationId="{F446CC3C-215E-D3C8-6472-928634613439}"/>
          </ac:spMkLst>
        </pc:spChg>
        <pc:spChg chg="mod ord">
          <ac:chgData name="Sravanti kondala" userId="a346c19f0a206091" providerId="LiveId" clId="{88B5224F-4A02-4A82-B972-6088FEC50949}" dt="2026-10-13T13:06:29.480" v="666"/>
          <ac:spMkLst>
            <pc:docMk/>
            <pc:sldMk cId="398998703" sldId="268"/>
            <ac:spMk id="3" creationId="{A5586623-6B0E-D1B7-9EF6-CBA4DF1ED8B8}"/>
          </ac:spMkLst>
        </pc:spChg>
        <pc:spChg chg="add mod ord">
          <ac:chgData name="Sravanti kondala" userId="a346c19f0a206091" providerId="LiveId" clId="{88B5224F-4A02-4A82-B972-6088FEC50949}" dt="2026-10-13T13:06:29.480" v="666"/>
          <ac:spMkLst>
            <pc:docMk/>
            <pc:sldMk cId="398998703" sldId="268"/>
            <ac:spMk id="4" creationId="{7871537C-2439-BBDE-3526-BB2B36F4461D}"/>
          </ac:spMkLst>
        </pc:spChg>
        <pc:spChg chg="add mod">
          <ac:chgData name="Sravanti kondala" userId="a346c19f0a206091" providerId="LiveId" clId="{88B5224F-4A02-4A82-B972-6088FEC50949}" dt="2026-10-13T13:07:25.010" v="672" actId="1076"/>
          <ac:spMkLst>
            <pc:docMk/>
            <pc:sldMk cId="398998703" sldId="268"/>
            <ac:spMk id="5" creationId="{6FCC2ECB-1D0D-AAFB-4961-34CF42C082C1}"/>
          </ac:spMkLst>
        </pc:spChg>
      </pc:sldChg>
      <pc:sldChg chg="addSp delSp modSp mod">
        <pc:chgData name="Sravanti kondala" userId="a346c19f0a206091" providerId="LiveId" clId="{88B5224F-4A02-4A82-B972-6088FEC50949}" dt="2026-10-13T16:04:04.425" v="786"/>
        <pc:sldMkLst>
          <pc:docMk/>
          <pc:sldMk cId="3983677463" sldId="269"/>
        </pc:sldMkLst>
        <pc:spChg chg="mod">
          <ac:chgData name="Sravanti kondala" userId="a346c19f0a206091" providerId="LiveId" clId="{88B5224F-4A02-4A82-B972-6088FEC50949}" dt="2026-10-13T13:08:56.567" v="676" actId="20577"/>
          <ac:spMkLst>
            <pc:docMk/>
            <pc:sldMk cId="3983677463" sldId="269"/>
            <ac:spMk id="2" creationId="{CE17F0A4-35E0-264F-2525-2093DC359A51}"/>
          </ac:spMkLst>
        </pc:spChg>
        <pc:spChg chg="mod">
          <ac:chgData name="Sravanti kondala" userId="a346c19f0a206091" providerId="LiveId" clId="{88B5224F-4A02-4A82-B972-6088FEC50949}" dt="2026-10-13T13:09:36.325" v="686" actId="14100"/>
          <ac:spMkLst>
            <pc:docMk/>
            <pc:sldMk cId="3983677463" sldId="269"/>
            <ac:spMk id="3" creationId="{83A93714-B4B4-8F5B-2834-31FF8ED4BC3A}"/>
          </ac:spMkLst>
        </pc:spChg>
        <pc:spChg chg="add del mod">
          <ac:chgData name="Sravanti kondala" userId="a346c19f0a206091" providerId="LiveId" clId="{88B5224F-4A02-4A82-B972-6088FEC50949}" dt="2026-10-13T16:04:04.425" v="786"/>
          <ac:spMkLst>
            <pc:docMk/>
            <pc:sldMk cId="3983677463" sldId="269"/>
            <ac:spMk id="4" creationId="{1934A698-D3B1-5614-FCE4-26C90CAF92E6}"/>
          </ac:spMkLst>
        </pc:spChg>
      </pc:sldChg>
      <pc:sldChg chg="delSp modSp del mod">
        <pc:chgData name="Sravanti kondala" userId="a346c19f0a206091" providerId="LiveId" clId="{88B5224F-4A02-4A82-B972-6088FEC50949}" dt="2026-10-13T03:13:08.083" v="27" actId="2696"/>
        <pc:sldMkLst>
          <pc:docMk/>
          <pc:sldMk cId="73623164" sldId="270"/>
        </pc:sldMkLst>
        <pc:spChg chg="mod">
          <ac:chgData name="Sravanti kondala" userId="a346c19f0a206091" providerId="LiveId" clId="{88B5224F-4A02-4A82-B972-6088FEC50949}" dt="2026-10-13T03:12:10.892" v="16" actId="20577"/>
          <ac:spMkLst>
            <pc:docMk/>
            <pc:sldMk cId="73623164" sldId="270"/>
            <ac:spMk id="5" creationId="{579014AC-AE78-11E9-57F3-92968A30E913}"/>
          </ac:spMkLst>
        </pc:spChg>
        <pc:spChg chg="del mod">
          <ac:chgData name="Sravanti kondala" userId="a346c19f0a206091" providerId="LiveId" clId="{88B5224F-4A02-4A82-B972-6088FEC50949}" dt="2026-10-13T03:12:29.788" v="21"/>
          <ac:spMkLst>
            <pc:docMk/>
            <pc:sldMk cId="73623164" sldId="270"/>
            <ac:spMk id="7" creationId="{F290C456-1032-9CE8-DF6D-4CA5D36490CC}"/>
          </ac:spMkLst>
        </pc:spChg>
      </pc:sldChg>
      <pc:sldChg chg="addSp delSp modSp mod">
        <pc:chgData name="Sravanti kondala" userId="a346c19f0a206091" providerId="LiveId" clId="{88B5224F-4A02-4A82-B972-6088FEC50949}" dt="2026-10-13T13:14:03.272" v="740" actId="14100"/>
        <pc:sldMkLst>
          <pc:docMk/>
          <pc:sldMk cId="1290551070" sldId="271"/>
        </pc:sldMkLst>
        <pc:picChg chg="del mod">
          <ac:chgData name="Sravanti kondala" userId="a346c19f0a206091" providerId="LiveId" clId="{88B5224F-4A02-4A82-B972-6088FEC50949}" dt="2026-10-13T13:13:00.029" v="726" actId="478"/>
          <ac:picMkLst>
            <pc:docMk/>
            <pc:sldMk cId="1290551070" sldId="271"/>
            <ac:picMk id="2" creationId="{049DBF0E-E61C-8410-3325-87AE11590E70}"/>
          </ac:picMkLst>
        </pc:picChg>
        <pc:picChg chg="add del mod">
          <ac:chgData name="Sravanti kondala" userId="a346c19f0a206091" providerId="LiveId" clId="{88B5224F-4A02-4A82-B972-6088FEC50949}" dt="2026-10-13T13:13:50.771" v="734" actId="478"/>
          <ac:picMkLst>
            <pc:docMk/>
            <pc:sldMk cId="1290551070" sldId="271"/>
            <ac:picMk id="3" creationId="{C010C516-5E77-4400-08FE-531577E0EF21}"/>
          </ac:picMkLst>
        </pc:picChg>
        <pc:picChg chg="add mod">
          <ac:chgData name="Sravanti kondala" userId="a346c19f0a206091" providerId="LiveId" clId="{88B5224F-4A02-4A82-B972-6088FEC50949}" dt="2026-10-13T13:14:03.272" v="740" actId="14100"/>
          <ac:picMkLst>
            <pc:docMk/>
            <pc:sldMk cId="1290551070" sldId="271"/>
            <ac:picMk id="4" creationId="{D1D79F1E-AAC8-6D69-740B-3B858E3FF72E}"/>
          </ac:picMkLst>
        </pc:picChg>
      </pc:sldChg>
      <pc:sldChg chg="modSp new mod">
        <pc:chgData name="Sravanti kondala" userId="a346c19f0a206091" providerId="LiveId" clId="{88B5224F-4A02-4A82-B972-6088FEC50949}" dt="2026-10-13T13:12:18.071" v="724" actId="27636"/>
        <pc:sldMkLst>
          <pc:docMk/>
          <pc:sldMk cId="1049769898" sldId="272"/>
        </pc:sldMkLst>
        <pc:spChg chg="mod">
          <ac:chgData name="Sravanti kondala" userId="a346c19f0a206091" providerId="LiveId" clId="{88B5224F-4A02-4A82-B972-6088FEC50949}" dt="2026-10-13T13:11:25.207" v="712" actId="20577"/>
          <ac:spMkLst>
            <pc:docMk/>
            <pc:sldMk cId="1049769898" sldId="272"/>
            <ac:spMk id="2" creationId="{8D78DC58-F57C-0DFF-6C3C-3C384BF1CB0F}"/>
          </ac:spMkLst>
        </pc:spChg>
        <pc:spChg chg="mod">
          <ac:chgData name="Sravanti kondala" userId="a346c19f0a206091" providerId="LiveId" clId="{88B5224F-4A02-4A82-B972-6088FEC50949}" dt="2026-10-13T13:12:18.071" v="724" actId="27636"/>
          <ac:spMkLst>
            <pc:docMk/>
            <pc:sldMk cId="1049769898" sldId="272"/>
            <ac:spMk id="3" creationId="{B84735B3-7169-D790-51BB-0AA87171009C}"/>
          </ac:spMkLst>
        </pc:spChg>
      </pc:sldChg>
      <pc:sldChg chg="new del">
        <pc:chgData name="Sravanti kondala" userId="a346c19f0a206091" providerId="LiveId" clId="{88B5224F-4A02-4A82-B972-6088FEC50949}" dt="2026-10-13T03:12:20.905" v="18" actId="680"/>
        <pc:sldMkLst>
          <pc:docMk/>
          <pc:sldMk cId="3286155392" sldId="272"/>
        </pc:sldMkLst>
      </pc:sldChg>
      <pc:sldChg chg="delSp modSp new mod modClrScheme chgLayout">
        <pc:chgData name="Sravanti kondala" userId="a346c19f0a206091" providerId="LiveId" clId="{88B5224F-4A02-4A82-B972-6088FEC50949}" dt="2026-10-13T13:10:37.986" v="693" actId="5793"/>
        <pc:sldMkLst>
          <pc:docMk/>
          <pc:sldMk cId="2016529369" sldId="273"/>
        </pc:sldMkLst>
        <pc:spChg chg="del">
          <ac:chgData name="Sravanti kondala" userId="a346c19f0a206091" providerId="LiveId" clId="{88B5224F-4A02-4A82-B972-6088FEC50949}" dt="2026-10-13T13:10:03.621" v="689" actId="700"/>
          <ac:spMkLst>
            <pc:docMk/>
            <pc:sldMk cId="2016529369" sldId="273"/>
            <ac:spMk id="2" creationId="{A92DA0BB-6461-3A9E-7C8D-203FFC610B8F}"/>
          </ac:spMkLst>
        </pc:spChg>
        <pc:spChg chg="mod ord">
          <ac:chgData name="Sravanti kondala" userId="a346c19f0a206091" providerId="LiveId" clId="{88B5224F-4A02-4A82-B972-6088FEC50949}" dt="2026-10-13T13:10:37.986" v="693" actId="5793"/>
          <ac:spMkLst>
            <pc:docMk/>
            <pc:sldMk cId="2016529369" sldId="273"/>
            <ac:spMk id="3" creationId="{E204DB53-583D-9F6C-2603-356CC934CD6A}"/>
          </ac:spMkLst>
        </pc:spChg>
      </pc:sldChg>
      <pc:sldChg chg="addSp delSp modSp new mod modClrScheme chgLayout">
        <pc:chgData name="Sravanti kondala" userId="a346c19f0a206091" providerId="LiveId" clId="{88B5224F-4A02-4A82-B972-6088FEC50949}" dt="2026-10-13T13:39:32.276" v="783" actId="207"/>
        <pc:sldMkLst>
          <pc:docMk/>
          <pc:sldMk cId="831203556" sldId="274"/>
        </pc:sldMkLst>
        <pc:spChg chg="del">
          <ac:chgData name="Sravanti kondala" userId="a346c19f0a206091" providerId="LiveId" clId="{88B5224F-4A02-4A82-B972-6088FEC50949}" dt="2026-10-13T13:35:33.534" v="748" actId="700"/>
          <ac:spMkLst>
            <pc:docMk/>
            <pc:sldMk cId="831203556" sldId="274"/>
            <ac:spMk id="2" creationId="{E2D36ECE-924F-4809-0CAB-8B040960A759}"/>
          </ac:spMkLst>
        </pc:spChg>
        <pc:spChg chg="del">
          <ac:chgData name="Sravanti kondala" userId="a346c19f0a206091" providerId="LiveId" clId="{88B5224F-4A02-4A82-B972-6088FEC50949}" dt="2026-10-13T13:35:33.534" v="748" actId="700"/>
          <ac:spMkLst>
            <pc:docMk/>
            <pc:sldMk cId="831203556" sldId="274"/>
            <ac:spMk id="3" creationId="{18ED4F04-B8AF-C81D-2A06-3445AF16A07A}"/>
          </ac:spMkLst>
        </pc:spChg>
        <pc:spChg chg="add mod">
          <ac:chgData name="Sravanti kondala" userId="a346c19f0a206091" providerId="LiveId" clId="{88B5224F-4A02-4A82-B972-6088FEC50949}" dt="2026-10-13T13:39:32.276" v="783" actId="207"/>
          <ac:spMkLst>
            <pc:docMk/>
            <pc:sldMk cId="831203556" sldId="274"/>
            <ac:spMk id="4" creationId="{452A09DE-7F44-474A-F7A5-57D4F9FD324B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68B5CF-0077-53D9-58CB-AD6717A136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7C06E3-BED9-0CEA-FFEC-2B88C8094F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D7222B-84E3-5ADC-5392-B9CFA31192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07D543-B5E5-43AB-A6BD-21A8B0D93BBA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115568-9845-89A3-2273-7BEC453025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38AC6C-97F1-1CBE-34BE-78B3D4416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7E1607-4F2D-4795-8DD1-484BAAF682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92289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23A5D4-8A77-9CA0-0842-22D2C43EE2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39F42B-F3C9-1EF7-FC62-D7AEBD6E1B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678A10-8C40-2B5E-AC0A-55B31C9C0B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07D543-B5E5-43AB-A6BD-21A8B0D93BBA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57DBC7-8FB5-D06D-517D-32446353B3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D92263-64DB-4806-B425-5338D6E5D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7E1607-4F2D-4795-8DD1-484BAAF682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32446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E0F810-5BB3-D1FB-62CD-D30591A3D8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2A5170-8F4C-CBA8-F2A5-1E998783BC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64D4B3-CA16-4767-FDF4-BE24CFE022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07D543-B5E5-43AB-A6BD-21A8B0D93BBA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34E1FD-1BD4-4663-2895-F9C30D8715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CAA082-50B3-75B1-E61C-633594781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7E1607-4F2D-4795-8DD1-484BAAF682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86562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E8A397-BBE1-4B08-C814-9A85A2C976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5DC7C9-0EE3-A76C-1C9D-1D67CD2272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A07813-5171-D6F6-CED0-CD541F8633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C1F288-45D5-9601-A72B-9B996FE28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07D543-B5E5-43AB-A6BD-21A8B0D93BBA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F25339-A7AF-6E75-05C6-3B9FF3B39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E478B2-F492-556A-AD23-127B2E3353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7E1607-4F2D-4795-8DD1-484BAAF682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00823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4DBFB8-7F68-40DD-2B7F-D804B25A7E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F65756-28EF-EC17-678D-46A9F5B189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F7D9FE-A272-7B29-1707-510FBD8B0B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F0960BA-D9C8-F182-F770-1562EBD619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5F7A841-680B-AE49-C314-4A642405D0E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B7477EB-B368-BBB1-71C3-65CB6B7E70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07D543-B5E5-43AB-A6BD-21A8B0D93BBA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12875A0-0240-41F3-CD3C-544551E4D8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7A71794-9987-224D-5ACD-B2168193B7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7E1607-4F2D-4795-8DD1-484BAAF682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91998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C8D79C-BB44-182C-437F-CF1BA3A39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C11F08-FDBC-7074-352A-0F7F4B0BBF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07D543-B5E5-43AB-A6BD-21A8B0D93BBA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55F0EA1-9B52-8875-4440-CA1DD0EC1F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C831C6-E7CB-BD2F-6268-4128AE000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7E1607-4F2D-4795-8DD1-484BAAF682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07147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EA02C6A-C093-DDC1-CBD4-DABB66829B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07D543-B5E5-43AB-A6BD-21A8B0D93BBA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5049EE1-C026-2222-0C6C-DC4A10649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6C4291-787A-A472-6566-3FDCF586A7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7E1607-4F2D-4795-8DD1-484BAAF682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35868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67AA5-2D1D-3323-985A-186387FCFA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9E0E67-2663-8299-AD15-E44CF8DBC3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2C27E3-E1D9-DD82-35B0-096D2150D0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911E26-9E45-80FC-22EE-6EAA65F58F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07D543-B5E5-43AB-A6BD-21A8B0D93BBA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E8F0CC-6615-95F1-CFD6-579DFAF2CE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D71CAF-E352-BF9F-B932-6ABACF371E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7E1607-4F2D-4795-8DD1-484BAAF682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5493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A9E60-BA2E-9D29-7161-BE89EC7977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73BDD63-8EC3-40A6-EFE4-5269CCF83488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CEEA8D-D11D-1246-6A30-93524617F3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1C9CCF-405B-9559-E0F1-44CE662D91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07D543-B5E5-43AB-A6BD-21A8B0D93BBA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FB2E4A-4F38-DE8B-FF5C-85E90F56B7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25A54-532F-52F4-1982-D26252312C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7E1607-4F2D-4795-8DD1-484BAAF682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827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DA159D-7304-4B6D-EF98-92875B9FD1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8E0FFA-B96A-B9B8-B663-EE0BA3BB9A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6FE3D7-83D5-04AD-C202-3EF873E825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07D543-B5E5-43AB-A6BD-21A8B0D93BBA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7D7D69-12D2-DB01-6CCB-B52E35204B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C604D1-FC61-5828-B698-5D8B73E33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7E1607-4F2D-4795-8DD1-484BAAF682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14922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23F6775-368D-A6DD-F73E-F0C5B8F13C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A3A279-91F1-5408-EBCD-E17768FC05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5B4F35-D4B8-0DD8-26E0-B51FE3C748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07D543-B5E5-43AB-A6BD-21A8B0D93BBA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3A0D3A-67CF-8C10-7A49-12934CC9E5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C50778-2B6D-6DFB-414E-96CE8D9EC4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7E1607-4F2D-4795-8DD1-484BAAF682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43498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827CC81-2226-A681-12C4-7CC3C91AEB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536D9D-BB47-BA94-6B6F-C320FE3B6B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501B55-1A03-EB17-B02F-4AC0C097E2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07D543-B5E5-43AB-A6BD-21A8B0D93BBA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F60311-326D-96A0-F763-49747103F4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FD5203-46A9-22D2-4255-6531675EBD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7E1607-4F2D-4795-8DD1-484BAAF682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27017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A5A7E9-14CA-4968-987D-043202BA9DA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Sales Analysis Power BI Mini Project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D90737-52F6-AEBC-6F1B-5177959F937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b="1" dirty="0"/>
              <a:t>Interactive Sales Dashboard</a:t>
            </a:r>
            <a:endParaRPr lang="en-IN" dirty="0"/>
          </a:p>
          <a:p>
            <a:r>
              <a:rPr lang="en-IN" dirty="0"/>
              <a:t>Data Cleaning | Data Modelling | DAX | Data Visualization</a:t>
            </a:r>
          </a:p>
          <a:p>
            <a:r>
              <a:rPr lang="en-IN" b="1" dirty="0"/>
              <a:t>Tools Used:</a:t>
            </a:r>
            <a:r>
              <a:rPr lang="en-IN" dirty="0"/>
              <a:t> Microsoft Power BI, Excel, PostgreSQL</a:t>
            </a:r>
          </a:p>
          <a:p>
            <a:br>
              <a:rPr lang="en-IN" dirty="0"/>
            </a:br>
            <a:r>
              <a:rPr lang="en-IN" sz="2000" b="1" dirty="0"/>
              <a:t>Presented by</a:t>
            </a:r>
            <a:r>
              <a:rPr lang="en-IN" sz="2000" dirty="0"/>
              <a:t>: K Sravanti</a:t>
            </a:r>
          </a:p>
        </p:txBody>
      </p:sp>
    </p:spTree>
    <p:extLst>
      <p:ext uri="{BB962C8B-B14F-4D97-AF65-F5344CB8AC3E}">
        <p14:creationId xmlns:p14="http://schemas.microsoft.com/office/powerpoint/2010/main" val="10970939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4C9F90-1FC4-4CE4-7F32-58E138BF58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566206"/>
            <a:ext cx="8953436" cy="695666"/>
          </a:xfrm>
        </p:spPr>
        <p:txBody>
          <a:bodyPr>
            <a:noAutofit/>
          </a:bodyPr>
          <a:lstStyle/>
          <a:p>
            <a:r>
              <a:rPr lang="en-IN" sz="4400" b="1" dirty="0"/>
              <a:t>Business Problem and Project Overview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BD37F1-EE87-4485-8412-EAFDFD5C9C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7" y="2057399"/>
            <a:ext cx="7701098" cy="4596319"/>
          </a:xfrm>
        </p:spPr>
        <p:txBody>
          <a:bodyPr>
            <a:normAutofit fontScale="40000" lnSpcReduction="20000"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7000" dirty="0"/>
              <a:t>Worked on a retail sales dataset containing information about customers, employees, products and sales.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7000" dirty="0"/>
              <a:t>Identified data quality issues such as duplicate records, inconsistent formatting and missing values.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7000" dirty="0"/>
              <a:t>Developed an interactive Power BI dashboard to analyse sales performance.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7000" dirty="0"/>
              <a:t>Connected Excel-cleaned data and PostgreSQL tables to Power BI.</a:t>
            </a:r>
          </a:p>
          <a:p>
            <a:r>
              <a:rPr lang="en-IN" sz="7000" b="1" dirty="0"/>
              <a:t>Project Outcome:</a:t>
            </a:r>
            <a:r>
              <a:rPr lang="en-IN" sz="7000" dirty="0"/>
              <a:t> Created a four-page interactive sales dashboard for business analysis.</a:t>
            </a:r>
          </a:p>
          <a:p>
            <a:pPr lvl="0"/>
            <a:endParaRPr lang="en-IN" sz="2800" dirty="0"/>
          </a:p>
        </p:txBody>
      </p:sp>
      <p:pic>
        <p:nvPicPr>
          <p:cNvPr id="4" name="Picture 3" descr="Business analytics logo Images - Free Download on Magnific (formerly  Freepik)">
            <a:extLst>
              <a:ext uri="{FF2B5EF4-FFF2-40B4-BE49-F238E27FC236}">
                <a16:creationId xmlns:a16="http://schemas.microsoft.com/office/drawing/2014/main" id="{8A9F29B3-742F-B865-DF40-5B8676C934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0885" y="1261872"/>
            <a:ext cx="2957209" cy="5149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10662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0EC1C4-85A9-8548-708C-456CE7AD8B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92609"/>
            <a:ext cx="10515600" cy="1271015"/>
          </a:xfrm>
        </p:spPr>
        <p:txBody>
          <a:bodyPr>
            <a:normAutofit/>
          </a:bodyPr>
          <a:lstStyle/>
          <a:p>
            <a:r>
              <a:rPr lang="en-IN" b="1" dirty="0"/>
              <a:t>Work Completed in the Project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C4E197-3BFE-9F2F-FB97-25CB6573BD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b="1" dirty="0"/>
              <a:t>Data Cleaning:</a:t>
            </a:r>
            <a:r>
              <a:rPr lang="en-IN" dirty="0"/>
              <a:t> Cleaned and validated five datasets using Excel and Power Query.</a:t>
            </a:r>
          </a:p>
          <a:p>
            <a:r>
              <a:rPr lang="en-IN" b="1" dirty="0"/>
              <a:t>Database Integration:</a:t>
            </a:r>
            <a:r>
              <a:rPr lang="en-IN" dirty="0"/>
              <a:t> Created a PostgreSQL database and imported Orders and Order Items.</a:t>
            </a:r>
          </a:p>
          <a:p>
            <a:r>
              <a:rPr lang="en-IN" b="1" dirty="0"/>
              <a:t>Data Modelling:</a:t>
            </a:r>
            <a:r>
              <a:rPr lang="en-IN" dirty="0"/>
              <a:t> Created table relationships and a Calendar table in Power BI.</a:t>
            </a:r>
          </a:p>
          <a:p>
            <a:r>
              <a:rPr lang="en-IN" b="1" dirty="0"/>
              <a:t>DAX Calculations:</a:t>
            </a:r>
            <a:r>
              <a:rPr lang="en-IN" dirty="0"/>
              <a:t> Created measures for revenue, orders, quantity and time-based analysis.</a:t>
            </a:r>
          </a:p>
          <a:p>
            <a:r>
              <a:rPr lang="en-IN" b="1" dirty="0"/>
              <a:t>Dashboard Development:</a:t>
            </a:r>
            <a:r>
              <a:rPr lang="en-IN" dirty="0"/>
              <a:t> Built four interactive report pages.</a:t>
            </a:r>
          </a:p>
          <a:p>
            <a:r>
              <a:rPr lang="en-IN" b="1" dirty="0"/>
              <a:t>Security Testing:</a:t>
            </a:r>
            <a:r>
              <a:rPr lang="en-IN" dirty="0"/>
              <a:t> Created and tested the North Manager RLS role.</a:t>
            </a:r>
          </a:p>
          <a:p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641883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C6941-227D-C124-C98E-866E5B16FF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Tools and Technologies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D0AAF8-83B0-71B1-0E40-27442E354E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sz="3000" b="1" dirty="0"/>
              <a:t>Microsoft Excel</a:t>
            </a:r>
          </a:p>
          <a:p>
            <a:pPr marL="0" indent="0">
              <a:buNone/>
            </a:pPr>
            <a:r>
              <a:rPr lang="en-IN" sz="3000" dirty="0"/>
              <a:t>   Used to inspect, clean, and prepare the datasets before analysis.</a:t>
            </a:r>
          </a:p>
          <a:p>
            <a:r>
              <a:rPr lang="en-IN" sz="3000" b="1" dirty="0"/>
              <a:t>Power Query</a:t>
            </a:r>
          </a:p>
          <a:p>
            <a:pPr marL="0" indent="0">
              <a:buNone/>
            </a:pPr>
            <a:r>
              <a:rPr lang="en-IN" sz="3000" dirty="0"/>
              <a:t>   Used to transform data and handle data quality issues.</a:t>
            </a:r>
          </a:p>
          <a:p>
            <a:r>
              <a:rPr lang="en-IN" sz="3000" b="1" dirty="0"/>
              <a:t>PostgreSQL</a:t>
            </a:r>
          </a:p>
          <a:p>
            <a:pPr marL="0" indent="0">
              <a:buNone/>
            </a:pPr>
            <a:r>
              <a:rPr lang="en-IN" sz="3000" dirty="0"/>
              <a:t>    Created the database and imported the Orders and Order Items tables.</a:t>
            </a:r>
          </a:p>
          <a:p>
            <a:r>
              <a:rPr lang="en-IN" sz="3000" b="1" dirty="0"/>
              <a:t>Power BI</a:t>
            </a:r>
          </a:p>
          <a:p>
            <a:pPr marL="0" indent="0">
              <a:buNone/>
            </a:pPr>
            <a:r>
              <a:rPr lang="en-IN" sz="3000" dirty="0"/>
              <a:t>      Built the data model, created DAX measures, and developed the four-page interactive report.</a:t>
            </a:r>
          </a:p>
          <a:p>
            <a:pPr marL="0" indent="0">
              <a:buNone/>
            </a:pPr>
            <a:endParaRPr lang="en-IN" dirty="0"/>
          </a:p>
          <a:p>
            <a:pPr lvl="0"/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4" name="Picture 3" descr="Icono de Excel - ePuzzle foto puzzle">
            <a:extLst>
              <a:ext uri="{FF2B5EF4-FFF2-40B4-BE49-F238E27FC236}">
                <a16:creationId xmlns:a16="http://schemas.microsoft.com/office/drawing/2014/main" id="{00D66B76-D917-6088-A6B6-89CC344988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8195" y="365125"/>
            <a:ext cx="1700146" cy="1700146"/>
          </a:xfrm>
          <a:prstGeom prst="rect">
            <a:avLst/>
          </a:prstGeom>
        </p:spPr>
      </p:pic>
      <p:pic>
        <p:nvPicPr>
          <p:cNvPr id="5" name="Picture 4" descr="A Beginner’s Guide to Loading Data into Power Query: Excel and Power BI | by Umar Adeyemi Adekola | Medium">
            <a:extLst>
              <a:ext uri="{FF2B5EF4-FFF2-40B4-BE49-F238E27FC236}">
                <a16:creationId xmlns:a16="http://schemas.microsoft.com/office/drawing/2014/main" id="{52A82713-E1FE-B1B6-1F0A-7F833DD811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0641" y="76209"/>
            <a:ext cx="2023588" cy="202235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B16F2E5-591C-F8F9-6F98-C16AD3402F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10651853" y="2710154"/>
            <a:ext cx="1648652" cy="170014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0E8F7B4-4B37-8235-0B00-F3D1C58023D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56347" y="4944528"/>
            <a:ext cx="1431642" cy="1410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02934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AAD921-123D-D13D-A8B7-2496B43D59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Dataset Preparation and Data Cleaning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2BCB33-F854-69F1-F131-271D5F838C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 fontScale="92500" lnSpcReduction="10000"/>
          </a:bodyPr>
          <a:lstStyle/>
          <a:p>
            <a:pPr lvl="0"/>
            <a:r>
              <a:rPr lang="en-IN" sz="3000" dirty="0"/>
              <a:t>Worked with five datasets: Customers, Employees, Products, Orders, and Order Items.</a:t>
            </a:r>
          </a:p>
          <a:p>
            <a:pPr lvl="0"/>
            <a:r>
              <a:rPr lang="en-IN" sz="3000" dirty="0"/>
              <a:t>Removed confirmed duplicate records.</a:t>
            </a:r>
          </a:p>
          <a:p>
            <a:pPr lvl="0"/>
            <a:r>
              <a:rPr lang="en-IN" sz="3000" dirty="0"/>
              <a:t>Standardized names, cities, regions, and email formats.</a:t>
            </a:r>
          </a:p>
          <a:p>
            <a:pPr lvl="0"/>
            <a:r>
              <a:rPr lang="en-IN" sz="3000" dirty="0"/>
              <a:t>Handled missing values using available information where possible.</a:t>
            </a:r>
          </a:p>
          <a:p>
            <a:pPr lvl="0"/>
            <a:r>
              <a:rPr lang="en-IN" sz="3000" dirty="0"/>
              <a:t>Corrected identified data inconsistencies, including a date and product details.</a:t>
            </a:r>
          </a:p>
          <a:p>
            <a:pPr lvl="0"/>
            <a:r>
              <a:rPr lang="en-IN" sz="3000" dirty="0"/>
              <a:t>Retained unknown or uncertain values instead of making assumptions.</a:t>
            </a:r>
          </a:p>
          <a:p>
            <a:pPr marL="0" indent="0">
              <a:buNone/>
            </a:pPr>
            <a:r>
              <a:rPr lang="en-IN" sz="3000" b="1" dirty="0"/>
              <a:t>Outcome:</a:t>
            </a:r>
            <a:r>
              <a:rPr lang="en-IN" sz="3000" dirty="0"/>
              <a:t> Prepared the datasets for database integration and Power BI analysis.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259676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B6168D-AFCA-8CEF-8D39-BBCDCE8B90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93622"/>
            <a:ext cx="10515600" cy="1009651"/>
          </a:xfrm>
        </p:spPr>
        <p:txBody>
          <a:bodyPr>
            <a:normAutofit fontScale="90000"/>
          </a:bodyPr>
          <a:lstStyle/>
          <a:p>
            <a:r>
              <a:rPr lang="en-IN" sz="4900" b="1" dirty="0"/>
              <a:t>PostgreSQL Database Integration</a:t>
            </a:r>
            <a:br>
              <a:rPr lang="en-IN" b="1" dirty="0"/>
            </a:b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49C7E0-86E5-5DF1-89DF-48BE5D06C3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98448"/>
            <a:ext cx="10515600" cy="4878515"/>
          </a:xfrm>
        </p:spPr>
        <p:txBody>
          <a:bodyPr/>
          <a:lstStyle/>
          <a:p>
            <a:pPr lvl="0"/>
            <a:r>
              <a:rPr lang="en-IN" dirty="0"/>
              <a:t>Created a PostgreSQL database named </a:t>
            </a:r>
            <a:r>
              <a:rPr lang="en-IN" dirty="0" err="1"/>
              <a:t>sales_db</a:t>
            </a:r>
            <a:r>
              <a:rPr lang="en-IN" dirty="0"/>
              <a:t>.</a:t>
            </a:r>
          </a:p>
          <a:p>
            <a:pPr lvl="0"/>
            <a:r>
              <a:rPr lang="en-IN" dirty="0"/>
              <a:t>Created the orders and </a:t>
            </a:r>
            <a:r>
              <a:rPr lang="en-IN" dirty="0" err="1"/>
              <a:t>order_items</a:t>
            </a:r>
            <a:r>
              <a:rPr lang="en-IN" dirty="0"/>
              <a:t> tables.</a:t>
            </a:r>
          </a:p>
          <a:p>
            <a:pPr lvl="0"/>
            <a:r>
              <a:rPr lang="en-IN" dirty="0"/>
              <a:t>Imported the corresponding CSV files into PostgreSQL.</a:t>
            </a:r>
          </a:p>
          <a:p>
            <a:pPr lvl="0"/>
            <a:r>
              <a:rPr lang="en-IN" dirty="0"/>
              <a:t>Connected the sales data with Power BI for reporting and analysis.</a:t>
            </a:r>
          </a:p>
          <a:p>
            <a:pPr lvl="0"/>
            <a:r>
              <a:rPr lang="en-IN" dirty="0"/>
              <a:t>Verified the imported tables and their data.</a:t>
            </a:r>
          </a:p>
          <a:p>
            <a:pPr marL="0" indent="0">
              <a:buNone/>
            </a:pPr>
            <a:r>
              <a:rPr lang="en-IN" b="1" dirty="0"/>
              <a:t>Outcome:</a:t>
            </a:r>
            <a:r>
              <a:rPr lang="en-IN" dirty="0"/>
              <a:t> Successfully integrated the sales tables into the database workflow.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A4B4CF7-7DBD-CCE7-D86F-60414297A7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4003" y="4462617"/>
            <a:ext cx="3448664" cy="214159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8896A47-F39D-CAD1-AE71-925678742E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7998" y="4462618"/>
            <a:ext cx="3487731" cy="2141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47900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CE8CFB-6118-3940-260B-590BC7BB9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86383"/>
            <a:ext cx="10515600" cy="2140085"/>
          </a:xfrm>
        </p:spPr>
        <p:txBody>
          <a:bodyPr>
            <a:normAutofit/>
          </a:bodyPr>
          <a:lstStyle/>
          <a:p>
            <a:r>
              <a:rPr lang="en-IN" sz="4900" b="1" dirty="0"/>
              <a:t>Data Modelling and Relationships</a:t>
            </a:r>
            <a:br>
              <a:rPr lang="en-IN" b="1" dirty="0"/>
            </a:b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AEF829-D57E-E4D1-DF36-AB53F49835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lvl="0"/>
            <a:r>
              <a:rPr lang="en-IN" dirty="0"/>
              <a:t>Created relationships between Customers, Orders, Order Items, Products, and Employees.</a:t>
            </a:r>
          </a:p>
          <a:p>
            <a:pPr lvl="0"/>
            <a:r>
              <a:rPr lang="en-IN" dirty="0"/>
              <a:t>Created a Calendar table using DAX for date-based analysis.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highlight>
                  <a:srgbClr val="FFFF00"/>
                </a:highlight>
              </a:rPr>
              <a:t>Calendar = CALENDAR(MIN('Orders Data'[</a:t>
            </a:r>
            <a:r>
              <a:rPr lang="en-US" dirty="0" err="1">
                <a:solidFill>
                  <a:srgbClr val="FF0000"/>
                </a:solidFill>
                <a:highlight>
                  <a:srgbClr val="FFFF00"/>
                </a:highlight>
              </a:rPr>
              <a:t>order_date</a:t>
            </a:r>
            <a:r>
              <a:rPr lang="en-US" dirty="0">
                <a:solidFill>
                  <a:srgbClr val="FF0000"/>
                </a:solidFill>
                <a:highlight>
                  <a:srgbClr val="FFFF00"/>
                </a:highlight>
              </a:rPr>
              <a:t>]),MAX('Orders Data'[</a:t>
            </a:r>
            <a:r>
              <a:rPr lang="en-US" dirty="0" err="1">
                <a:solidFill>
                  <a:srgbClr val="FF0000"/>
                </a:solidFill>
                <a:highlight>
                  <a:srgbClr val="FFFF00"/>
                </a:highlight>
              </a:rPr>
              <a:t>order_date</a:t>
            </a:r>
            <a:r>
              <a:rPr lang="en-US" dirty="0">
                <a:solidFill>
                  <a:srgbClr val="FF0000"/>
                </a:solidFill>
                <a:highlight>
                  <a:srgbClr val="FFFF00"/>
                </a:highlight>
              </a:rPr>
              <a:t>]))</a:t>
            </a:r>
            <a:endParaRPr lang="en-IN" dirty="0">
              <a:solidFill>
                <a:srgbClr val="FF0000"/>
              </a:solidFill>
              <a:highlight>
                <a:srgbClr val="FFFF00"/>
              </a:highlight>
            </a:endParaRPr>
          </a:p>
          <a:p>
            <a:pPr lvl="0"/>
            <a:r>
              <a:rPr lang="en-IN" dirty="0"/>
              <a:t>Connected the Calendar table to Orders using the order date.</a:t>
            </a:r>
          </a:p>
          <a:p>
            <a:pPr lvl="0"/>
            <a:r>
              <a:rPr lang="en-IN" dirty="0"/>
              <a:t>Organized the tables into fact and dimension tables.</a:t>
            </a:r>
          </a:p>
          <a:p>
            <a:pPr lvl="0"/>
            <a:r>
              <a:rPr lang="en-IN" dirty="0"/>
              <a:t>Set up the data model to support interactive filtering and reporting.</a:t>
            </a:r>
          </a:p>
          <a:p>
            <a:pPr marL="0" indent="0">
              <a:buNone/>
            </a:pPr>
            <a:r>
              <a:rPr lang="en-IN" b="1" dirty="0"/>
              <a:t>Outcome:</a:t>
            </a:r>
            <a:r>
              <a:rPr lang="en-IN" dirty="0"/>
              <a:t> Built a connected data model for analysing sales from different perspectives.</a:t>
            </a:r>
          </a:p>
        </p:txBody>
      </p:sp>
    </p:spTree>
    <p:extLst>
      <p:ext uri="{BB962C8B-B14F-4D97-AF65-F5344CB8AC3E}">
        <p14:creationId xmlns:p14="http://schemas.microsoft.com/office/powerpoint/2010/main" val="27998226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D8DB74-7D98-BCD3-15C6-79B5A19AE7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DAX Measures and Calculations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923F8E-D317-B87A-B9A0-614F51101F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 dirty="0"/>
              <a:t>Created DAX measures to calculate Total Revenue, Order Count, and Total Quantity.</a:t>
            </a:r>
          </a:p>
          <a:p>
            <a:pPr lvl="0"/>
            <a:r>
              <a:rPr lang="en-IN" dirty="0"/>
              <a:t>Calculated Revenue Per Order and Average Order Revenue.</a:t>
            </a:r>
          </a:p>
          <a:p>
            <a:pPr lvl="0"/>
            <a:r>
              <a:rPr lang="en-IN" dirty="0"/>
              <a:t>Created measures for regional and high-value revenue analysis.</a:t>
            </a:r>
          </a:p>
          <a:p>
            <a:pPr lvl="0"/>
            <a:r>
              <a:rPr lang="en-IN" dirty="0"/>
              <a:t>Added time-based calculations such as YTD Revenue and Previous Month Revenue.</a:t>
            </a:r>
          </a:p>
          <a:p>
            <a:pPr lvl="0"/>
            <a:r>
              <a:rPr lang="en-IN" dirty="0"/>
              <a:t>Created Year-over-Year Growth measures for time comparison.</a:t>
            </a:r>
          </a:p>
          <a:p>
            <a:pPr marL="0" indent="0">
              <a:buNone/>
            </a:pPr>
            <a:r>
              <a:rPr lang="en-IN" b="1" dirty="0"/>
              <a:t>Outcome:</a:t>
            </a:r>
            <a:r>
              <a:rPr lang="en-IN" dirty="0"/>
              <a:t> Developed reusable calculations to analyse sales performance and support business decisions.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916593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52A09DE-7F44-474A-F7A5-57D4F9FD324B}"/>
              </a:ext>
            </a:extLst>
          </p:cNvPr>
          <p:cNvSpPr txBox="1"/>
          <p:nvPr/>
        </p:nvSpPr>
        <p:spPr>
          <a:xfrm>
            <a:off x="433137" y="529389"/>
            <a:ext cx="11454063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>
                <a:highlight>
                  <a:srgbClr val="FFFF00"/>
                </a:highlight>
              </a:rPr>
              <a:t>Total Revenue = SUM('</a:t>
            </a:r>
            <a:r>
              <a:rPr lang="en-US" dirty="0" err="1">
                <a:highlight>
                  <a:srgbClr val="FFFF00"/>
                </a:highlight>
              </a:rPr>
              <a:t>Order_items</a:t>
            </a:r>
            <a:r>
              <a:rPr lang="en-US" dirty="0">
                <a:highlight>
                  <a:srgbClr val="FFFF00"/>
                </a:highlight>
              </a:rPr>
              <a:t> Data'[revenue])</a:t>
            </a:r>
            <a:endParaRPr lang="en-IN" dirty="0">
              <a:highlight>
                <a:srgbClr val="FFFF00"/>
              </a:highlight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>
                <a:highlight>
                  <a:srgbClr val="FFFF00"/>
                </a:highlight>
              </a:rPr>
              <a:t>Order Count = COUNT('Orders Data'[</a:t>
            </a:r>
            <a:r>
              <a:rPr lang="en-US" dirty="0" err="1">
                <a:highlight>
                  <a:srgbClr val="FFFF00"/>
                </a:highlight>
              </a:rPr>
              <a:t>order_id</a:t>
            </a:r>
            <a:r>
              <a:rPr lang="en-US" dirty="0">
                <a:highlight>
                  <a:srgbClr val="FFFF00"/>
                </a:highlight>
              </a:rPr>
              <a:t>]) or COUNTROWS('Orders Data')</a:t>
            </a:r>
            <a:endParaRPr lang="en-IN" dirty="0">
              <a:highlight>
                <a:srgbClr val="FFFF00"/>
              </a:highlight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>
                <a:highlight>
                  <a:srgbClr val="FFFF00"/>
                </a:highlight>
              </a:rPr>
              <a:t>Average Order Revenue = AVERAGE('</a:t>
            </a:r>
            <a:r>
              <a:rPr lang="en-US" dirty="0" err="1">
                <a:highlight>
                  <a:srgbClr val="FFFF00"/>
                </a:highlight>
              </a:rPr>
              <a:t>Order_items</a:t>
            </a:r>
            <a:r>
              <a:rPr lang="en-US" dirty="0">
                <a:highlight>
                  <a:srgbClr val="FFFF00"/>
                </a:highlight>
              </a:rPr>
              <a:t> Data'[revenue])</a:t>
            </a:r>
            <a:endParaRPr lang="en-IN" dirty="0">
              <a:highlight>
                <a:srgbClr val="FFFF00"/>
              </a:highlight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>
                <a:highlight>
                  <a:srgbClr val="FFFF00"/>
                </a:highlight>
              </a:rPr>
              <a:t>Total Quantity = SUM('</a:t>
            </a:r>
            <a:r>
              <a:rPr lang="en-US" dirty="0" err="1">
                <a:highlight>
                  <a:srgbClr val="FFFF00"/>
                </a:highlight>
              </a:rPr>
              <a:t>Order_items</a:t>
            </a:r>
            <a:r>
              <a:rPr lang="en-US" dirty="0">
                <a:highlight>
                  <a:srgbClr val="FFFF00"/>
                </a:highlight>
              </a:rPr>
              <a:t> Data'[quantity])</a:t>
            </a:r>
            <a:endParaRPr lang="en-IN" dirty="0">
              <a:highlight>
                <a:srgbClr val="FFFF00"/>
              </a:highlight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>
                <a:highlight>
                  <a:srgbClr val="FFFF00"/>
                </a:highlight>
              </a:rPr>
              <a:t>Revenue Per Order = DIVIDE([Total Revenue],[Order Count])</a:t>
            </a:r>
            <a:endParaRPr lang="en-IN" dirty="0">
              <a:highlight>
                <a:srgbClr val="FFFF00"/>
              </a:highlight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>
                <a:highlight>
                  <a:srgbClr val="FFFF00"/>
                </a:highlight>
              </a:rPr>
              <a:t>South Revenue = CALCULATE([Total Revenue],</a:t>
            </a:r>
            <a:r>
              <a:rPr lang="en-US" dirty="0" err="1">
                <a:highlight>
                  <a:srgbClr val="FFFF00"/>
                </a:highlight>
              </a:rPr>
              <a:t>Customers_Data</a:t>
            </a:r>
            <a:r>
              <a:rPr lang="en-US" dirty="0">
                <a:highlight>
                  <a:srgbClr val="FFFF00"/>
                </a:highlight>
              </a:rPr>
              <a:t>[Region]="South")</a:t>
            </a:r>
            <a:endParaRPr lang="en-IN" dirty="0">
              <a:highlight>
                <a:srgbClr val="FFFF00"/>
              </a:highlight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>
                <a:highlight>
                  <a:srgbClr val="FFFF00"/>
                </a:highlight>
              </a:rPr>
              <a:t>High Value Revenue = CALCULATE([Total Revenue],FILTER('</a:t>
            </a:r>
            <a:r>
              <a:rPr lang="en-US" dirty="0" err="1">
                <a:highlight>
                  <a:srgbClr val="FFFF00"/>
                </a:highlight>
              </a:rPr>
              <a:t>Order_items</a:t>
            </a:r>
            <a:r>
              <a:rPr lang="en-US" dirty="0">
                <a:highlight>
                  <a:srgbClr val="FFFF00"/>
                </a:highlight>
              </a:rPr>
              <a:t> Data','</a:t>
            </a:r>
            <a:r>
              <a:rPr lang="en-US" dirty="0" err="1">
                <a:highlight>
                  <a:srgbClr val="FFFF00"/>
                </a:highlight>
              </a:rPr>
              <a:t>Order_items</a:t>
            </a:r>
            <a:r>
              <a:rPr lang="en-US" dirty="0">
                <a:highlight>
                  <a:srgbClr val="FFFF00"/>
                </a:highlight>
              </a:rPr>
              <a:t> Data'[revenue]&gt;3000))</a:t>
            </a:r>
            <a:endParaRPr lang="en-IN" dirty="0">
              <a:highlight>
                <a:srgbClr val="FFFF00"/>
              </a:highlight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>
                <a:highlight>
                  <a:srgbClr val="FFFF00"/>
                </a:highlight>
              </a:rPr>
              <a:t>Company Revenue = CALCULATE([Total Revenue],ALL(</a:t>
            </a:r>
            <a:r>
              <a:rPr lang="en-US" dirty="0" err="1">
                <a:highlight>
                  <a:srgbClr val="FFFF00"/>
                </a:highlight>
              </a:rPr>
              <a:t>Customers_Data</a:t>
            </a:r>
            <a:r>
              <a:rPr lang="en-US" dirty="0">
                <a:highlight>
                  <a:srgbClr val="FFFF00"/>
                </a:highlight>
              </a:rPr>
              <a:t>[Region]))</a:t>
            </a:r>
            <a:endParaRPr lang="en-IN" dirty="0">
              <a:highlight>
                <a:srgbClr val="FFFF00"/>
              </a:highlight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>
                <a:highlight>
                  <a:srgbClr val="FFFF00"/>
                </a:highlight>
              </a:rPr>
              <a:t>YTD Revenue = TOTALYTD([Total Revenue],'Calendar'[Date])</a:t>
            </a:r>
            <a:endParaRPr lang="en-IN" dirty="0">
              <a:highlight>
                <a:srgbClr val="FFFF00"/>
              </a:highlight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>
                <a:highlight>
                  <a:srgbClr val="FFFF00"/>
                </a:highlight>
              </a:rPr>
              <a:t>Previous Month Revenue = CALCULATE([Total Revenue],DATEADD('Calendar'[Date],-1,MONTH))</a:t>
            </a:r>
            <a:endParaRPr lang="en-IN" dirty="0">
              <a:highlight>
                <a:srgbClr val="FFFF00"/>
              </a:highlight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>
                <a:highlight>
                  <a:srgbClr val="FFFF00"/>
                </a:highlight>
              </a:rPr>
              <a:t>Sales LY = CALCULATE([Total Revenue],SAMEPERIODLASTYEAR('Calendar'[Date]))</a:t>
            </a:r>
            <a:endParaRPr lang="en-IN" dirty="0">
              <a:highlight>
                <a:srgbClr val="FFFF00"/>
              </a:highlight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>
                <a:highlight>
                  <a:srgbClr val="FFFF00"/>
                </a:highlight>
              </a:rPr>
              <a:t>YOY Growth % = DIVIDE([Total Revenue]-[Sales LY],[Sales LY])</a:t>
            </a:r>
          </a:p>
          <a:p>
            <a:pPr lvl="0"/>
            <a:endParaRPr lang="en-US" dirty="0">
              <a:solidFill>
                <a:srgbClr val="C00000"/>
              </a:solidFill>
            </a:endParaRPr>
          </a:p>
          <a:p>
            <a:pPr lvl="0"/>
            <a:endParaRPr lang="en-US" dirty="0">
              <a:solidFill>
                <a:srgbClr val="C00000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highlight>
                  <a:srgbClr val="FFFF00"/>
                </a:highlight>
              </a:rPr>
              <a:t>Year = YEAR('Calendar'[Date])</a:t>
            </a:r>
            <a:endParaRPr lang="en-IN" dirty="0">
              <a:highlight>
                <a:srgbClr val="FFFF00"/>
              </a:highlight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highlight>
                  <a:srgbClr val="FFFF00"/>
                </a:highlight>
              </a:rPr>
              <a:t>Month Number = MONTH('Calendar'[Date])</a:t>
            </a:r>
            <a:endParaRPr lang="en-IN" dirty="0">
              <a:highlight>
                <a:srgbClr val="FFFF00"/>
              </a:highlight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highlight>
                  <a:srgbClr val="FFFF00"/>
                </a:highlight>
              </a:rPr>
              <a:t>Month Name = FORMAT('Calendar'[Date],"MMMM")</a:t>
            </a:r>
            <a:endParaRPr lang="en-IN" dirty="0">
              <a:highlight>
                <a:srgbClr val="FFFF00"/>
              </a:highlight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highlight>
                  <a:srgbClr val="FFFF00"/>
                </a:highlight>
              </a:rPr>
              <a:t>Quarter = "</a:t>
            </a:r>
            <a:r>
              <a:rPr lang="en-US" dirty="0" err="1">
                <a:highlight>
                  <a:srgbClr val="FFFF00"/>
                </a:highlight>
              </a:rPr>
              <a:t>Qtr</a:t>
            </a:r>
            <a:r>
              <a:rPr lang="en-US" dirty="0">
                <a:highlight>
                  <a:srgbClr val="FFFF00"/>
                </a:highlight>
              </a:rPr>
              <a:t>" &amp; FORMAT('Calendar'[Date],"Q")</a:t>
            </a:r>
            <a:endParaRPr lang="en-IN" dirty="0">
              <a:highlight>
                <a:srgbClr val="FFFF00"/>
              </a:highlight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highlight>
                  <a:srgbClr val="FFFF00"/>
                </a:highlight>
              </a:rPr>
              <a:t>Day = DAY('Calendar'[Date])</a:t>
            </a:r>
            <a:endParaRPr lang="en-IN" dirty="0">
              <a:highlight>
                <a:srgbClr val="FFFF00"/>
              </a:highlight>
            </a:endParaRPr>
          </a:p>
          <a:p>
            <a:pPr lvl="0"/>
            <a:endParaRPr lang="en-US" dirty="0">
              <a:solidFill>
                <a:srgbClr val="FF0000"/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312035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9C126C-FEBF-3039-8DC7-42CA5A7DDC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75490"/>
            <a:ext cx="10515600" cy="1617494"/>
          </a:xfrm>
        </p:spPr>
        <p:txBody>
          <a:bodyPr>
            <a:normAutofit fontScale="90000"/>
          </a:bodyPr>
          <a:lstStyle/>
          <a:p>
            <a:r>
              <a:rPr lang="en-IN" sz="4900" b="1" dirty="0"/>
              <a:t>Executive Overview Dashboard</a:t>
            </a:r>
            <a:br>
              <a:rPr lang="en-IN" b="1" dirty="0"/>
            </a:b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417CF1-F50B-7FDB-5410-0793381EB8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0"/>
            <a:r>
              <a:rPr lang="en-IN" dirty="0"/>
              <a:t>Created the first report page to provide a summary of sales performance.</a:t>
            </a:r>
          </a:p>
          <a:p>
            <a:pPr lvl="0"/>
            <a:r>
              <a:rPr lang="en-IN" dirty="0"/>
              <a:t>Added KPI cards for Total Revenue, Order Count, Total Quantity, and Revenue Per Order.</a:t>
            </a:r>
          </a:p>
          <a:p>
            <a:pPr lvl="0"/>
            <a:r>
              <a:rPr lang="en-IN" dirty="0"/>
              <a:t>Used a line chart to analyse monthly revenue.</a:t>
            </a:r>
          </a:p>
          <a:p>
            <a:pPr lvl="0"/>
            <a:r>
              <a:rPr lang="en-IN" dirty="0"/>
              <a:t>Used a chart to compare revenue across regions.</a:t>
            </a:r>
          </a:p>
          <a:p>
            <a:pPr lvl="0"/>
            <a:r>
              <a:rPr lang="en-IN" dirty="0"/>
              <a:t>Added Region and Month slicers for interactive filtering.</a:t>
            </a:r>
          </a:p>
          <a:p>
            <a:pPr lvl="0"/>
            <a:r>
              <a:rPr lang="en-IN" dirty="0"/>
              <a:t>Added navigation buttons to help users move between report pages.</a:t>
            </a:r>
          </a:p>
          <a:p>
            <a:pPr marL="0" indent="0">
              <a:buNone/>
            </a:pPr>
            <a:r>
              <a:rPr lang="en-IN" b="1" dirty="0"/>
              <a:t>Outcome:</a:t>
            </a:r>
            <a:r>
              <a:rPr lang="en-IN" dirty="0"/>
              <a:t> Created an interactive overview with key sales metrics, charts, slicers, and navigation buttons..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821898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0B6E50-175E-3DCE-B160-80E3E2713F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66929"/>
            <a:ext cx="10515600" cy="1787964"/>
          </a:xfrm>
        </p:spPr>
        <p:txBody>
          <a:bodyPr>
            <a:normAutofit fontScale="90000"/>
          </a:bodyPr>
          <a:lstStyle/>
          <a:p>
            <a:r>
              <a:rPr lang="en-IN" sz="4900" b="1" dirty="0"/>
              <a:t>Sales Performance Dashboard</a:t>
            </a:r>
            <a:br>
              <a:rPr lang="en-IN" b="1" dirty="0"/>
            </a:b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95FD36-6529-2CF1-8D15-60886FB22F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 dirty="0"/>
              <a:t>Created a report page to analyse salesperson and regional performance.</a:t>
            </a:r>
          </a:p>
          <a:p>
            <a:pPr lvl="0"/>
            <a:r>
              <a:rPr lang="en-IN" dirty="0"/>
              <a:t>Added a bar chart to compare salesperson revenue.</a:t>
            </a:r>
          </a:p>
          <a:p>
            <a:pPr lvl="0"/>
            <a:r>
              <a:rPr lang="en-IN" dirty="0"/>
              <a:t>Used a funnel chart to analyse revenue by region.</a:t>
            </a:r>
          </a:p>
          <a:p>
            <a:pPr lvl="0"/>
            <a:r>
              <a:rPr lang="en-IN" dirty="0"/>
              <a:t>Added a line chart to view sales trends.</a:t>
            </a:r>
          </a:p>
          <a:p>
            <a:pPr lvl="0"/>
            <a:r>
              <a:rPr lang="en-IN" dirty="0"/>
              <a:t>Included Month, Region, and Salesperson slicers.</a:t>
            </a:r>
          </a:p>
          <a:p>
            <a:pPr lvl="0"/>
            <a:r>
              <a:rPr lang="en-IN" dirty="0"/>
              <a:t>Added a customer table and drill-through for detailed analysis.</a:t>
            </a:r>
          </a:p>
          <a:p>
            <a:pPr marL="0" indent="0">
              <a:buNone/>
            </a:pPr>
            <a:r>
              <a:rPr lang="en-IN" b="1" dirty="0"/>
              <a:t>Outcome:</a:t>
            </a:r>
            <a:r>
              <a:rPr lang="en-IN" dirty="0"/>
              <a:t> Developed an interactive page to compare sales performance across employees and regions.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034252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BCE5E2-C138-B0FA-6875-EA7403BA4A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Product Analysis Dashboard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642D60-FCB8-12A7-4194-6A4F76E17C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 dirty="0"/>
              <a:t>Created a report page to analyse product sales.</a:t>
            </a:r>
          </a:p>
          <a:p>
            <a:pPr lvl="0"/>
            <a:r>
              <a:rPr lang="en-IN" dirty="0"/>
              <a:t>Used a bar chart to compare revenue by product.</a:t>
            </a:r>
          </a:p>
          <a:p>
            <a:pPr lvl="0"/>
            <a:r>
              <a:rPr lang="en-IN" dirty="0"/>
              <a:t>Added a column chart to compare revenue by category.</a:t>
            </a:r>
          </a:p>
          <a:p>
            <a:pPr lvl="0"/>
            <a:r>
              <a:rPr lang="en-IN" dirty="0"/>
              <a:t>Included a </a:t>
            </a:r>
            <a:r>
              <a:rPr lang="en-IN" dirty="0" err="1"/>
              <a:t>treemap</a:t>
            </a:r>
            <a:r>
              <a:rPr lang="en-IN" dirty="0"/>
              <a:t> to visualize revenue distribution.</a:t>
            </a:r>
          </a:p>
          <a:p>
            <a:pPr lvl="0"/>
            <a:r>
              <a:rPr lang="en-IN" dirty="0"/>
              <a:t>Added Product and Category slicers for interactive analysis.</a:t>
            </a:r>
          </a:p>
          <a:p>
            <a:pPr marL="0" indent="0">
              <a:buNone/>
            </a:pPr>
            <a:r>
              <a:rPr lang="en-IN" b="1" dirty="0"/>
              <a:t>Outcome:</a:t>
            </a:r>
            <a:r>
              <a:rPr lang="en-IN" dirty="0"/>
              <a:t> Identified product and category revenue patterns to support sales and inventory decisions.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153198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E88ED0-8034-6DE0-43BA-18DEB45F93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Customer Details Dashboard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00C998-808A-7E21-2839-AC3BC62351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 dirty="0"/>
              <a:t>Created a report page to analyse customer-wise sales performance.</a:t>
            </a:r>
          </a:p>
          <a:p>
            <a:pPr lvl="0"/>
            <a:r>
              <a:rPr lang="en-IN" dirty="0"/>
              <a:t>Added a table showing customer details, order count, revenue, and quantity.</a:t>
            </a:r>
          </a:p>
          <a:p>
            <a:pPr lvl="0"/>
            <a:r>
              <a:rPr lang="en-IN" dirty="0"/>
              <a:t>Used a bar chart to compare revenue by customer.</a:t>
            </a:r>
          </a:p>
          <a:p>
            <a:pPr lvl="0"/>
            <a:r>
              <a:rPr lang="en-IN" dirty="0"/>
              <a:t>Added a donut chart to show revenue distribution by region.</a:t>
            </a:r>
          </a:p>
          <a:p>
            <a:pPr lvl="0"/>
            <a:r>
              <a:rPr lang="en-IN" dirty="0"/>
              <a:t>Included Region and Customer slicers.</a:t>
            </a:r>
          </a:p>
          <a:p>
            <a:pPr lvl="0"/>
            <a:r>
              <a:rPr lang="en-IN" dirty="0"/>
              <a:t>Enabled drill-through for detailed customer analysis.</a:t>
            </a:r>
          </a:p>
          <a:p>
            <a:pPr marL="0" indent="0">
              <a:buNone/>
            </a:pPr>
            <a:r>
              <a:rPr lang="en-IN" b="1" dirty="0"/>
              <a:t>Outcome:</a:t>
            </a:r>
            <a:r>
              <a:rPr lang="en-IN" dirty="0"/>
              <a:t> Developed a customer-focused report to understand purchasing patterns and compare customer contributions to revenue.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405619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6CC3C-215E-D3C8-6472-9286346134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Interactivity and Security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586623-6B0E-D1B7-9EF6-CBA4DF1ED8B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sz="3000" b="1" dirty="0"/>
              <a:t>Interactive Features</a:t>
            </a:r>
            <a:endParaRPr lang="en-IN" sz="3000" dirty="0"/>
          </a:p>
          <a:p>
            <a:pPr lvl="0"/>
            <a:r>
              <a:rPr lang="en-IN" dirty="0"/>
              <a:t>Added slicers to filter report data.</a:t>
            </a:r>
          </a:p>
          <a:p>
            <a:pPr lvl="0"/>
            <a:r>
              <a:rPr lang="en-IN" dirty="0"/>
              <a:t>Implemented bookmarks for Sales Overview and Detailed Analysis.</a:t>
            </a:r>
          </a:p>
          <a:p>
            <a:pPr lvl="0"/>
            <a:r>
              <a:rPr lang="en-IN" dirty="0"/>
              <a:t>Added page navigation buttons and a Reset Filters button.</a:t>
            </a:r>
          </a:p>
          <a:p>
            <a:pPr lvl="0"/>
            <a:r>
              <a:rPr lang="en-IN" dirty="0"/>
              <a:t>Enabled drill-down and drill-through for detailed analysis.</a:t>
            </a:r>
          </a:p>
          <a:p>
            <a:pPr marL="0" lvl="0" indent="0">
              <a:buNone/>
            </a:pPr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71537C-2439-BBDE-3526-BB2B36F4461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sz="3000" b="1" dirty="0"/>
              <a:t>Row-Level Security (RLS)</a:t>
            </a:r>
            <a:endParaRPr lang="en-IN" sz="3000" dirty="0"/>
          </a:p>
          <a:p>
            <a:pPr lvl="0"/>
            <a:r>
              <a:rPr lang="en-IN" dirty="0"/>
              <a:t>Created a role named North Manager.</a:t>
            </a:r>
          </a:p>
          <a:p>
            <a:pPr lvl="0"/>
            <a:r>
              <a:rPr lang="en-IN" dirty="0"/>
              <a:t>Applied a filter to display only North region customer data.</a:t>
            </a:r>
          </a:p>
          <a:p>
            <a:pPr lvl="0"/>
            <a:r>
              <a:rPr lang="en-IN" dirty="0"/>
              <a:t>Tested the role using the View As feature in Power BI.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FCC2ECB-1D0D-AAFB-4961-34CF42C082C1}"/>
              </a:ext>
            </a:extLst>
          </p:cNvPr>
          <p:cNvSpPr txBox="1"/>
          <p:nvPr/>
        </p:nvSpPr>
        <p:spPr>
          <a:xfrm>
            <a:off x="838200" y="5834846"/>
            <a:ext cx="1051559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Outcome:</a:t>
            </a:r>
            <a:r>
              <a:rPr lang="en-IN" sz="2800" dirty="0"/>
              <a:t> Improved report navigation and demonstrated region-based data access control.</a:t>
            </a:r>
          </a:p>
        </p:txBody>
      </p:sp>
    </p:spTree>
    <p:extLst>
      <p:ext uri="{BB962C8B-B14F-4D97-AF65-F5344CB8AC3E}">
        <p14:creationId xmlns:p14="http://schemas.microsoft.com/office/powerpoint/2010/main" val="3989987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17F0A4-35E0-264F-2525-2093DC359A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Results and Management Summary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A93714-B4B4-8F5B-2834-31FF8ED4BC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/>
          </a:bodyPr>
          <a:lstStyle/>
          <a:p>
            <a:pPr lvl="0"/>
            <a:r>
              <a:rPr lang="en-IN" dirty="0"/>
              <a:t>Total Revenue: 3.96M</a:t>
            </a:r>
          </a:p>
          <a:p>
            <a:pPr lvl="0"/>
            <a:r>
              <a:rPr lang="en-IN" dirty="0"/>
              <a:t>Total Orders: 399</a:t>
            </a:r>
          </a:p>
          <a:p>
            <a:pPr lvl="0"/>
            <a:r>
              <a:rPr lang="en-IN" dirty="0"/>
              <a:t>Total Quantity Sold: 2,058 units</a:t>
            </a:r>
          </a:p>
          <a:p>
            <a:pPr lvl="0"/>
            <a:r>
              <a:rPr lang="en-IN" dirty="0"/>
              <a:t>South region generated the highest revenue.</a:t>
            </a:r>
          </a:p>
          <a:p>
            <a:pPr lvl="0"/>
            <a:r>
              <a:rPr lang="en-IN" dirty="0"/>
              <a:t>Electronics was the top-performing category.</a:t>
            </a:r>
          </a:p>
          <a:p>
            <a:pPr lvl="0"/>
            <a:r>
              <a:rPr lang="en-IN" dirty="0"/>
              <a:t>Air Purifier Mini was the top-performing product.</a:t>
            </a:r>
          </a:p>
          <a:p>
            <a:pPr lvl="0"/>
            <a:r>
              <a:rPr lang="en-IN" dirty="0"/>
              <a:t>Revenue showed fluctuations across months, with stronger performance around Q2.</a:t>
            </a:r>
          </a:p>
        </p:txBody>
      </p:sp>
    </p:spTree>
    <p:extLst>
      <p:ext uri="{BB962C8B-B14F-4D97-AF65-F5344CB8AC3E}">
        <p14:creationId xmlns:p14="http://schemas.microsoft.com/office/powerpoint/2010/main" val="39836774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04DB53-583D-9F6C-2603-356CC934CD6A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39302" y="1225685"/>
            <a:ext cx="9776298" cy="4951278"/>
          </a:xfrm>
        </p:spPr>
        <p:txBody>
          <a:bodyPr/>
          <a:lstStyle/>
          <a:p>
            <a:pPr marL="0" indent="0">
              <a:buNone/>
            </a:pPr>
            <a:r>
              <a:rPr lang="en-IN" sz="3000" b="1" dirty="0"/>
              <a:t>Recommendations</a:t>
            </a:r>
            <a:endParaRPr lang="en-IN" sz="3000" dirty="0"/>
          </a:p>
          <a:p>
            <a:r>
              <a:rPr lang="en-IN" dirty="0"/>
              <a:t>Focus on high-performing products and categories.</a:t>
            </a:r>
          </a:p>
          <a:p>
            <a:r>
              <a:rPr lang="en-IN" dirty="0"/>
              <a:t>Maintain sufficient stock for products with strong demand.</a:t>
            </a:r>
          </a:p>
          <a:p>
            <a:r>
              <a:rPr lang="en-IN" dirty="0"/>
              <a:t>Identify opportunities to improve sales in lower-performing regions.</a:t>
            </a:r>
          </a:p>
          <a:p>
            <a:r>
              <a:rPr lang="en-IN" dirty="0"/>
              <a:t>Monitor monthly sales trends to support planning.</a:t>
            </a:r>
          </a:p>
          <a:p>
            <a:pPr marL="0" indent="0">
              <a:buNone/>
            </a:pPr>
            <a:r>
              <a:rPr lang="en-IN" b="1" dirty="0"/>
              <a:t>Outcome:</a:t>
            </a:r>
            <a:r>
              <a:rPr lang="en-IN" dirty="0"/>
              <a:t> Summarized key sales insights and identified opportunities to improve business performance.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165293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78DC58-F57C-0DFF-6C3C-3C384BF1CB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Conclusion &amp; Future Scope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4735B3-7169-D790-51BB-0AA8717100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9149"/>
            <a:ext cx="10515600" cy="5033726"/>
          </a:xfrm>
        </p:spPr>
        <p:txBody>
          <a:bodyPr>
            <a:normAutofit fontScale="92500" lnSpcReduction="20000"/>
          </a:bodyPr>
          <a:lstStyle/>
          <a:p>
            <a:pPr lvl="0"/>
            <a:r>
              <a:rPr lang="en-IN" sz="3000" dirty="0"/>
              <a:t>Completed an interactive, four-page Power BI sales analysis report.</a:t>
            </a:r>
          </a:p>
          <a:p>
            <a:pPr lvl="0"/>
            <a:r>
              <a:rPr lang="en-IN" sz="3000" dirty="0"/>
              <a:t>Cleaned and prepared five datasets for analysis.</a:t>
            </a:r>
          </a:p>
          <a:p>
            <a:pPr lvl="0"/>
            <a:r>
              <a:rPr lang="en-IN" sz="3000" dirty="0"/>
              <a:t>Integrated PostgreSQL tables into the reporting workflow.</a:t>
            </a:r>
          </a:p>
          <a:p>
            <a:pPr lvl="0"/>
            <a:r>
              <a:rPr lang="en-IN" sz="3000" dirty="0"/>
              <a:t>Created relationships, DAX measures, and interactive visualizations.</a:t>
            </a:r>
          </a:p>
          <a:p>
            <a:pPr lvl="0"/>
            <a:r>
              <a:rPr lang="en-IN" sz="3000" dirty="0"/>
              <a:t>Tested Row-Level Security for the North region.</a:t>
            </a:r>
          </a:p>
          <a:p>
            <a:pPr marL="0" indent="0">
              <a:buNone/>
            </a:pPr>
            <a:r>
              <a:rPr lang="en-IN" sz="3000" b="1" dirty="0"/>
              <a:t>Future Scope</a:t>
            </a:r>
            <a:endParaRPr lang="en-IN" sz="3000" dirty="0"/>
          </a:p>
          <a:p>
            <a:pPr lvl="0"/>
            <a:r>
              <a:rPr lang="en-IN" sz="3000" dirty="0"/>
              <a:t>Add more years of sales data for year-over-year comparisons.</a:t>
            </a:r>
          </a:p>
          <a:p>
            <a:pPr lvl="0"/>
            <a:r>
              <a:rPr lang="en-IN" sz="3000" dirty="0"/>
              <a:t>Publish the report to Power BI Service when an appropriate account is available.</a:t>
            </a:r>
          </a:p>
          <a:p>
            <a:pPr marL="0" indent="0">
              <a:buNone/>
            </a:pPr>
            <a:r>
              <a:rPr lang="en-IN" sz="3000" b="1" dirty="0"/>
              <a:t>Outcome:</a:t>
            </a:r>
            <a:r>
              <a:rPr lang="en-IN" sz="3000" dirty="0"/>
              <a:t> Gained practical experience in data cleaning, database integration, data modelling, DAX, dashboard development, and data security.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497698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hank You Slide">
            <a:extLst>
              <a:ext uri="{FF2B5EF4-FFF2-40B4-BE49-F238E27FC236}">
                <a16:creationId xmlns:a16="http://schemas.microsoft.com/office/drawing/2014/main" id="{D1D79F1E-AAC8-6D69-740B-3B858E3FF7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05510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178</TotalTime>
  <Words>1403</Words>
  <Application>Microsoft Office PowerPoint</Application>
  <PresentationFormat>Widescreen</PresentationFormat>
  <Paragraphs>143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Calibri Light</vt:lpstr>
      <vt:lpstr>Office Theme</vt:lpstr>
      <vt:lpstr>Sales Analysis Power BI Mini Project </vt:lpstr>
      <vt:lpstr>Business Problem and Project Overview</vt:lpstr>
      <vt:lpstr>Work Completed in the Project</vt:lpstr>
      <vt:lpstr>Tools and Technologies Used</vt:lpstr>
      <vt:lpstr>Dataset Preparation and Data Cleaning</vt:lpstr>
      <vt:lpstr>PostgreSQL Database Integration  </vt:lpstr>
      <vt:lpstr>Data Modelling and Relationships  </vt:lpstr>
      <vt:lpstr>DAX Measures and Calculations</vt:lpstr>
      <vt:lpstr>PowerPoint Presentation</vt:lpstr>
      <vt:lpstr>Executive Overview Dashboard  </vt:lpstr>
      <vt:lpstr>Sales Performance Dashboard  </vt:lpstr>
      <vt:lpstr>Product Analysis Dashboard</vt:lpstr>
      <vt:lpstr>Customer Details Dashboard</vt:lpstr>
      <vt:lpstr>Interactivity and Security</vt:lpstr>
      <vt:lpstr>Results and Management Summary</vt:lpstr>
      <vt:lpstr>PowerPoint Presentation</vt:lpstr>
      <vt:lpstr>Conclusion &amp; Future Scope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Sravanti kondala</dc:creator>
  <cp:lastModifiedBy>Sravanti kondala</cp:lastModifiedBy>
  <cp:revision>1</cp:revision>
  <dcterms:created xsi:type="dcterms:W3CDTF">2026-10-12T11:55:42Z</dcterms:created>
  <dcterms:modified xsi:type="dcterms:W3CDTF">2026-10-14T05:23:48Z</dcterms:modified>
</cp:coreProperties>
</file>